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8F64A2-72D9-4DA6-A5D0-46E7D34C9796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E8510B-344C-4994-BB0A-F9E35CAB6BB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089C1C-4644-4522-9D3F-951102D5EF55}">
      <dgm:prSet/>
      <dgm:spPr/>
      <dgm:t>
        <a:bodyPr/>
        <a:lstStyle/>
        <a:p>
          <a:r>
            <a:rPr lang="fr-FR"/>
            <a:t>Modernisation de la gestion documentaire.</a:t>
          </a:r>
          <a:endParaRPr lang="en-US"/>
        </a:p>
      </dgm:t>
    </dgm:pt>
    <dgm:pt modelId="{771DD804-BA1B-441B-9FA1-B51D6CB5E4D6}" type="parTrans" cxnId="{46653024-9DFB-4643-A83A-0DCFF8214E9E}">
      <dgm:prSet/>
      <dgm:spPr/>
      <dgm:t>
        <a:bodyPr/>
        <a:lstStyle/>
        <a:p>
          <a:endParaRPr lang="en-US"/>
        </a:p>
      </dgm:t>
    </dgm:pt>
    <dgm:pt modelId="{243E24E3-FF83-4C67-9C48-C135B79F1EB1}" type="sibTrans" cxnId="{46653024-9DFB-4643-A83A-0DCFF8214E9E}">
      <dgm:prSet/>
      <dgm:spPr/>
      <dgm:t>
        <a:bodyPr/>
        <a:lstStyle/>
        <a:p>
          <a:endParaRPr lang="en-US"/>
        </a:p>
      </dgm:t>
    </dgm:pt>
    <dgm:pt modelId="{D618A144-E9BB-4257-8CBD-276C77593E9B}">
      <dgm:prSet/>
      <dgm:spPr/>
      <dgm:t>
        <a:bodyPr/>
        <a:lstStyle/>
        <a:p>
          <a:r>
            <a:rPr lang="fr-FR"/>
            <a:t>Transition des méthodes classiques vers le numérique.</a:t>
          </a:r>
          <a:endParaRPr lang="en-US"/>
        </a:p>
      </dgm:t>
    </dgm:pt>
    <dgm:pt modelId="{0333B4C0-C64F-4B9A-A6EF-8C1B43A5FA08}" type="parTrans" cxnId="{F8D8E540-AD2F-4C20-903F-CDD76D30994C}">
      <dgm:prSet/>
      <dgm:spPr/>
      <dgm:t>
        <a:bodyPr/>
        <a:lstStyle/>
        <a:p>
          <a:endParaRPr lang="en-US"/>
        </a:p>
      </dgm:t>
    </dgm:pt>
    <dgm:pt modelId="{499F7D15-89C6-4F43-A07B-1828C332009B}" type="sibTrans" cxnId="{F8D8E540-AD2F-4C20-903F-CDD76D30994C}">
      <dgm:prSet/>
      <dgm:spPr/>
      <dgm:t>
        <a:bodyPr/>
        <a:lstStyle/>
        <a:p>
          <a:endParaRPr lang="en-US"/>
        </a:p>
      </dgm:t>
    </dgm:pt>
    <dgm:pt modelId="{62E64807-1773-47E0-86DB-1CFC02D75DA8}">
      <dgm:prSet/>
      <dgm:spPr/>
      <dgm:t>
        <a:bodyPr/>
        <a:lstStyle/>
        <a:p>
          <a:r>
            <a:rPr lang="fr-FR" i="1"/>
            <a:t>Objectif principal :</a:t>
          </a:r>
          <a:r>
            <a:rPr lang="fr-FR"/>
            <a:t> Créer un écosystème combinant la rigueur d'une gestion de données (CRUD) et la flexibilité de l'Intelligence Artificielle.</a:t>
          </a:r>
          <a:endParaRPr lang="en-US"/>
        </a:p>
      </dgm:t>
    </dgm:pt>
    <dgm:pt modelId="{B6DE1149-9887-4B9A-B388-7F70F9729FD0}" type="parTrans" cxnId="{8C7F38F5-8305-440E-8752-608B5E968150}">
      <dgm:prSet/>
      <dgm:spPr/>
      <dgm:t>
        <a:bodyPr/>
        <a:lstStyle/>
        <a:p>
          <a:endParaRPr lang="en-US"/>
        </a:p>
      </dgm:t>
    </dgm:pt>
    <dgm:pt modelId="{CAA0DDC8-8378-4650-B0E1-65DA059D8AD3}" type="sibTrans" cxnId="{8C7F38F5-8305-440E-8752-608B5E968150}">
      <dgm:prSet/>
      <dgm:spPr/>
      <dgm:t>
        <a:bodyPr/>
        <a:lstStyle/>
        <a:p>
          <a:endParaRPr lang="en-US"/>
        </a:p>
      </dgm:t>
    </dgm:pt>
    <dgm:pt modelId="{DAA602C2-DA76-4AE5-80B4-9B80697F78BF}" type="pres">
      <dgm:prSet presAssocID="{2CE8510B-344C-4994-BB0A-F9E35CAB6BB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1035E1-58E2-4F23-9578-F4B5D9BC60E5}" type="pres">
      <dgm:prSet presAssocID="{AF089C1C-4644-4522-9D3F-951102D5EF55}" presName="hierRoot1" presStyleCnt="0"/>
      <dgm:spPr/>
    </dgm:pt>
    <dgm:pt modelId="{1DAD632D-E13A-4A7A-9AFB-4028B90319C7}" type="pres">
      <dgm:prSet presAssocID="{AF089C1C-4644-4522-9D3F-951102D5EF55}" presName="composite" presStyleCnt="0"/>
      <dgm:spPr/>
    </dgm:pt>
    <dgm:pt modelId="{C4973653-B8FA-47F1-A813-CAAFB62B9937}" type="pres">
      <dgm:prSet presAssocID="{AF089C1C-4644-4522-9D3F-951102D5EF55}" presName="background" presStyleLbl="node0" presStyleIdx="0" presStyleCnt="3"/>
      <dgm:spPr/>
    </dgm:pt>
    <dgm:pt modelId="{7438ED83-23BF-444D-9635-F668FBA171F0}" type="pres">
      <dgm:prSet presAssocID="{AF089C1C-4644-4522-9D3F-951102D5EF55}" presName="text" presStyleLbl="fgAcc0" presStyleIdx="0" presStyleCnt="3">
        <dgm:presLayoutVars>
          <dgm:chPref val="3"/>
        </dgm:presLayoutVars>
      </dgm:prSet>
      <dgm:spPr/>
    </dgm:pt>
    <dgm:pt modelId="{9E1595A3-B0C8-4458-BCB3-9F295ADD79BA}" type="pres">
      <dgm:prSet presAssocID="{AF089C1C-4644-4522-9D3F-951102D5EF55}" presName="hierChild2" presStyleCnt="0"/>
      <dgm:spPr/>
    </dgm:pt>
    <dgm:pt modelId="{A57B91B4-E7C3-4FF0-AC26-24E87514BC5E}" type="pres">
      <dgm:prSet presAssocID="{D618A144-E9BB-4257-8CBD-276C77593E9B}" presName="hierRoot1" presStyleCnt="0"/>
      <dgm:spPr/>
    </dgm:pt>
    <dgm:pt modelId="{793696A1-6AEB-4497-A9A8-85A3B1BD4DB1}" type="pres">
      <dgm:prSet presAssocID="{D618A144-E9BB-4257-8CBD-276C77593E9B}" presName="composite" presStyleCnt="0"/>
      <dgm:spPr/>
    </dgm:pt>
    <dgm:pt modelId="{4D6647DB-20F6-4EC1-9563-152F57ABF202}" type="pres">
      <dgm:prSet presAssocID="{D618A144-E9BB-4257-8CBD-276C77593E9B}" presName="background" presStyleLbl="node0" presStyleIdx="1" presStyleCnt="3"/>
      <dgm:spPr/>
    </dgm:pt>
    <dgm:pt modelId="{16F0D560-AD56-48B0-A9F2-C4A3F611FBF0}" type="pres">
      <dgm:prSet presAssocID="{D618A144-E9BB-4257-8CBD-276C77593E9B}" presName="text" presStyleLbl="fgAcc0" presStyleIdx="1" presStyleCnt="3">
        <dgm:presLayoutVars>
          <dgm:chPref val="3"/>
        </dgm:presLayoutVars>
      </dgm:prSet>
      <dgm:spPr/>
    </dgm:pt>
    <dgm:pt modelId="{75161991-0708-40AA-BAEB-3211AECBCC7E}" type="pres">
      <dgm:prSet presAssocID="{D618A144-E9BB-4257-8CBD-276C77593E9B}" presName="hierChild2" presStyleCnt="0"/>
      <dgm:spPr/>
    </dgm:pt>
    <dgm:pt modelId="{58A844ED-9703-4FEA-9EFF-2538B3A7A103}" type="pres">
      <dgm:prSet presAssocID="{62E64807-1773-47E0-86DB-1CFC02D75DA8}" presName="hierRoot1" presStyleCnt="0"/>
      <dgm:spPr/>
    </dgm:pt>
    <dgm:pt modelId="{BA672106-5D9A-4486-8B7E-CB8FEE5C9F1B}" type="pres">
      <dgm:prSet presAssocID="{62E64807-1773-47E0-86DB-1CFC02D75DA8}" presName="composite" presStyleCnt="0"/>
      <dgm:spPr/>
    </dgm:pt>
    <dgm:pt modelId="{94CDDD6B-2558-48D4-82E6-027CB7C47B6C}" type="pres">
      <dgm:prSet presAssocID="{62E64807-1773-47E0-86DB-1CFC02D75DA8}" presName="background" presStyleLbl="node0" presStyleIdx="2" presStyleCnt="3"/>
      <dgm:spPr/>
    </dgm:pt>
    <dgm:pt modelId="{F5EE9863-FD73-4566-AC21-221709B9E214}" type="pres">
      <dgm:prSet presAssocID="{62E64807-1773-47E0-86DB-1CFC02D75DA8}" presName="text" presStyleLbl="fgAcc0" presStyleIdx="2" presStyleCnt="3">
        <dgm:presLayoutVars>
          <dgm:chPref val="3"/>
        </dgm:presLayoutVars>
      </dgm:prSet>
      <dgm:spPr/>
    </dgm:pt>
    <dgm:pt modelId="{38DA0EEB-853F-450A-BEAA-B3BC42193B03}" type="pres">
      <dgm:prSet presAssocID="{62E64807-1773-47E0-86DB-1CFC02D75DA8}" presName="hierChild2" presStyleCnt="0"/>
      <dgm:spPr/>
    </dgm:pt>
  </dgm:ptLst>
  <dgm:cxnLst>
    <dgm:cxn modelId="{F7058F13-B59F-4035-8D8D-1FD5D6771D3C}" type="presOf" srcId="{2CE8510B-344C-4994-BB0A-F9E35CAB6BBB}" destId="{DAA602C2-DA76-4AE5-80B4-9B80697F78BF}" srcOrd="0" destOrd="0" presId="urn:microsoft.com/office/officeart/2005/8/layout/hierarchy1"/>
    <dgm:cxn modelId="{46653024-9DFB-4643-A83A-0DCFF8214E9E}" srcId="{2CE8510B-344C-4994-BB0A-F9E35CAB6BBB}" destId="{AF089C1C-4644-4522-9D3F-951102D5EF55}" srcOrd="0" destOrd="0" parTransId="{771DD804-BA1B-441B-9FA1-B51D6CB5E4D6}" sibTransId="{243E24E3-FF83-4C67-9C48-C135B79F1EB1}"/>
    <dgm:cxn modelId="{F8D8E540-AD2F-4C20-903F-CDD76D30994C}" srcId="{2CE8510B-344C-4994-BB0A-F9E35CAB6BBB}" destId="{D618A144-E9BB-4257-8CBD-276C77593E9B}" srcOrd="1" destOrd="0" parTransId="{0333B4C0-C64F-4B9A-A6EF-8C1B43A5FA08}" sibTransId="{499F7D15-89C6-4F43-A07B-1828C332009B}"/>
    <dgm:cxn modelId="{DCC3217F-4E5B-4093-8B84-A9BDD107D627}" type="presOf" srcId="{62E64807-1773-47E0-86DB-1CFC02D75DA8}" destId="{F5EE9863-FD73-4566-AC21-221709B9E214}" srcOrd="0" destOrd="0" presId="urn:microsoft.com/office/officeart/2005/8/layout/hierarchy1"/>
    <dgm:cxn modelId="{CCF4FED7-9DBD-4CD0-92B2-041CF3508121}" type="presOf" srcId="{D618A144-E9BB-4257-8CBD-276C77593E9B}" destId="{16F0D560-AD56-48B0-A9F2-C4A3F611FBF0}" srcOrd="0" destOrd="0" presId="urn:microsoft.com/office/officeart/2005/8/layout/hierarchy1"/>
    <dgm:cxn modelId="{8C7F38F5-8305-440E-8752-608B5E968150}" srcId="{2CE8510B-344C-4994-BB0A-F9E35CAB6BBB}" destId="{62E64807-1773-47E0-86DB-1CFC02D75DA8}" srcOrd="2" destOrd="0" parTransId="{B6DE1149-9887-4B9A-B388-7F70F9729FD0}" sibTransId="{CAA0DDC8-8378-4650-B0E1-65DA059D8AD3}"/>
    <dgm:cxn modelId="{34B72AF8-9209-474A-8019-5F056E189C35}" type="presOf" srcId="{AF089C1C-4644-4522-9D3F-951102D5EF55}" destId="{7438ED83-23BF-444D-9635-F668FBA171F0}" srcOrd="0" destOrd="0" presId="urn:microsoft.com/office/officeart/2005/8/layout/hierarchy1"/>
    <dgm:cxn modelId="{F8EB8249-A6F9-47EC-B127-BC9340F1CEC6}" type="presParOf" srcId="{DAA602C2-DA76-4AE5-80B4-9B80697F78BF}" destId="{C81035E1-58E2-4F23-9578-F4B5D9BC60E5}" srcOrd="0" destOrd="0" presId="urn:microsoft.com/office/officeart/2005/8/layout/hierarchy1"/>
    <dgm:cxn modelId="{FF44DDF4-1C34-40B8-A5E7-A50EE447E9BB}" type="presParOf" srcId="{C81035E1-58E2-4F23-9578-F4B5D9BC60E5}" destId="{1DAD632D-E13A-4A7A-9AFB-4028B90319C7}" srcOrd="0" destOrd="0" presId="urn:microsoft.com/office/officeart/2005/8/layout/hierarchy1"/>
    <dgm:cxn modelId="{E293569E-F09D-44AA-AF94-F6BB16A51C6D}" type="presParOf" srcId="{1DAD632D-E13A-4A7A-9AFB-4028B90319C7}" destId="{C4973653-B8FA-47F1-A813-CAAFB62B9937}" srcOrd="0" destOrd="0" presId="urn:microsoft.com/office/officeart/2005/8/layout/hierarchy1"/>
    <dgm:cxn modelId="{29511CD5-4B21-4F3F-B3DB-AE5187DB748C}" type="presParOf" srcId="{1DAD632D-E13A-4A7A-9AFB-4028B90319C7}" destId="{7438ED83-23BF-444D-9635-F668FBA171F0}" srcOrd="1" destOrd="0" presId="urn:microsoft.com/office/officeart/2005/8/layout/hierarchy1"/>
    <dgm:cxn modelId="{B40043A5-8A82-47EC-9AB4-2ECD83D6F9C7}" type="presParOf" srcId="{C81035E1-58E2-4F23-9578-F4B5D9BC60E5}" destId="{9E1595A3-B0C8-4458-BCB3-9F295ADD79BA}" srcOrd="1" destOrd="0" presId="urn:microsoft.com/office/officeart/2005/8/layout/hierarchy1"/>
    <dgm:cxn modelId="{6FD48252-C7D5-4BDC-A1C6-927F9C69A681}" type="presParOf" srcId="{DAA602C2-DA76-4AE5-80B4-9B80697F78BF}" destId="{A57B91B4-E7C3-4FF0-AC26-24E87514BC5E}" srcOrd="1" destOrd="0" presId="urn:microsoft.com/office/officeart/2005/8/layout/hierarchy1"/>
    <dgm:cxn modelId="{747E9D3D-B828-4CA1-9DC0-A9FCDEED7587}" type="presParOf" srcId="{A57B91B4-E7C3-4FF0-AC26-24E87514BC5E}" destId="{793696A1-6AEB-4497-A9A8-85A3B1BD4DB1}" srcOrd="0" destOrd="0" presId="urn:microsoft.com/office/officeart/2005/8/layout/hierarchy1"/>
    <dgm:cxn modelId="{621ACB1A-17D7-4498-958D-B0ACB7848A65}" type="presParOf" srcId="{793696A1-6AEB-4497-A9A8-85A3B1BD4DB1}" destId="{4D6647DB-20F6-4EC1-9563-152F57ABF202}" srcOrd="0" destOrd="0" presId="urn:microsoft.com/office/officeart/2005/8/layout/hierarchy1"/>
    <dgm:cxn modelId="{7B853083-E689-4387-BBA9-ABD9109509E4}" type="presParOf" srcId="{793696A1-6AEB-4497-A9A8-85A3B1BD4DB1}" destId="{16F0D560-AD56-48B0-A9F2-C4A3F611FBF0}" srcOrd="1" destOrd="0" presId="urn:microsoft.com/office/officeart/2005/8/layout/hierarchy1"/>
    <dgm:cxn modelId="{A228290D-D90F-4DE3-9260-D407DA1CD2B8}" type="presParOf" srcId="{A57B91B4-E7C3-4FF0-AC26-24E87514BC5E}" destId="{75161991-0708-40AA-BAEB-3211AECBCC7E}" srcOrd="1" destOrd="0" presId="urn:microsoft.com/office/officeart/2005/8/layout/hierarchy1"/>
    <dgm:cxn modelId="{833EC9AA-A559-464D-9BA1-0E8B7556EFA8}" type="presParOf" srcId="{DAA602C2-DA76-4AE5-80B4-9B80697F78BF}" destId="{58A844ED-9703-4FEA-9EFF-2538B3A7A103}" srcOrd="2" destOrd="0" presId="urn:microsoft.com/office/officeart/2005/8/layout/hierarchy1"/>
    <dgm:cxn modelId="{762C4BFC-BAEC-480A-91EA-6CC347C9A293}" type="presParOf" srcId="{58A844ED-9703-4FEA-9EFF-2538B3A7A103}" destId="{BA672106-5D9A-4486-8B7E-CB8FEE5C9F1B}" srcOrd="0" destOrd="0" presId="urn:microsoft.com/office/officeart/2005/8/layout/hierarchy1"/>
    <dgm:cxn modelId="{4FB9339A-6E2E-48BC-9C06-FD26FD862FC8}" type="presParOf" srcId="{BA672106-5D9A-4486-8B7E-CB8FEE5C9F1B}" destId="{94CDDD6B-2558-48D4-82E6-027CB7C47B6C}" srcOrd="0" destOrd="0" presId="urn:microsoft.com/office/officeart/2005/8/layout/hierarchy1"/>
    <dgm:cxn modelId="{F35E3CF0-25B9-45D2-B2A0-03B1740B6101}" type="presParOf" srcId="{BA672106-5D9A-4486-8B7E-CB8FEE5C9F1B}" destId="{F5EE9863-FD73-4566-AC21-221709B9E214}" srcOrd="1" destOrd="0" presId="urn:microsoft.com/office/officeart/2005/8/layout/hierarchy1"/>
    <dgm:cxn modelId="{083C2ADE-9D66-4EB9-AAB3-E799FF49320B}" type="presParOf" srcId="{58A844ED-9703-4FEA-9EFF-2538B3A7A103}" destId="{38DA0EEB-853F-450A-BEAA-B3BC42193B0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73653-B8FA-47F1-A813-CAAFB62B9937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8ED83-23BF-444D-9635-F668FBA171F0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Modernisation de la gestion documentaire.</a:t>
          </a:r>
          <a:endParaRPr lang="en-US" sz="2000" kern="1200"/>
        </a:p>
      </dsp:txBody>
      <dsp:txXfrm>
        <a:off x="398656" y="1088253"/>
        <a:ext cx="2959127" cy="1837317"/>
      </dsp:txXfrm>
    </dsp:sp>
    <dsp:sp modelId="{4D6647DB-20F6-4EC1-9563-152F57ABF202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0D560-AD56-48B0-A9F2-C4A3F611FBF0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Transition des méthodes classiques vers le numérique.</a:t>
          </a:r>
          <a:endParaRPr lang="en-US" sz="2000" kern="1200"/>
        </a:p>
      </dsp:txBody>
      <dsp:txXfrm>
        <a:off x="4155097" y="1088253"/>
        <a:ext cx="2959127" cy="1837317"/>
      </dsp:txXfrm>
    </dsp:sp>
    <dsp:sp modelId="{94CDDD6B-2558-48D4-82E6-027CB7C47B6C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E9863-FD73-4566-AC21-221709B9E214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i="1" kern="1200"/>
            <a:t>Objectif principal :</a:t>
          </a:r>
          <a:r>
            <a:rPr lang="fr-FR" sz="2000" kern="1200"/>
            <a:t> Créer un écosystème combinant la rigueur d'une gestion de données (CRUD) et la flexibilité de l'Intelligence Artificielle.</a:t>
          </a:r>
          <a:endParaRPr lang="en-US" sz="2000" kern="120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EC22E-9FD0-4356-9506-8B9F99D64A0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17EB0-2D16-4DE6-AD54-12374C77AE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203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17EB0-2D16-4DE6-AD54-12374C77AEB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93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17EB0-2D16-4DE6-AD54-12374C77AEB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373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6268-5B5B-1483-C8E2-947EA7CF7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F62CC-B804-EC7E-C0BE-80E77D833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917C1-4073-3733-851E-50BDF4E3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2EFF2-2E0F-D67C-687F-A216AC7A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2A0E5-6734-C64F-61FE-C261BEB0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29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3F239-9DC0-49F2-10CB-9DA76590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206C2-54C3-F450-3403-F45609E8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5A478-9186-9D21-E315-982628E1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3096D-5A59-803C-1674-E53B92CB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09F17-1A73-F521-560B-BEA40E2E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60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FB41-2972-FDFC-FFB1-3E0A776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0BC82-7564-DF42-2565-709C9489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8CAE5-97E1-39DB-8F3D-74B90FE4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9CB8C-C530-8383-19FB-02E2454B4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D888F-ABD4-5898-3CC0-D168B7EC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06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298E-E14D-D2BD-4544-4C6981C2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D8F76-458D-267D-FD6E-976C5419D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03372-FC71-49F3-06CB-3BDBB9F82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3AB82-7A9D-B549-BE9C-35006153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682F1-8A85-D11F-9B14-DAB23A23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0794A-0F44-ED70-F765-713994C3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49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8A43-924F-C9A4-895B-DE66BD6C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5A315-0C0E-4FA6-9A51-C42924347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9516C-4C60-96DE-3E8D-E8CEE7B1E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9BA5D-7B32-2123-6D97-ECA843A51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4D471-E94A-4FD3-0A50-70247085C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37B12-08BB-2D3E-F857-46C4FA2F5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1EA4B2-56C7-B8B4-8777-1DD666AC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3E2302-486E-9311-A304-397F6668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35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9440-EB31-343D-24FB-67A70474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C7B6E-E534-388C-6E0B-394E7B7D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570D1-AB0E-6A77-4B09-BD8E6C5E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614CD-8C7A-6466-40D4-ABADFCD2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22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785C0-B06F-8625-647B-F56CB6929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8A7DE6-3945-68AA-B8F2-738958CC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4E390-72B4-10D8-21F3-9777BDD4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73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E55-BCD1-08B4-1E9B-BC0ECBA4A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76C4A-41E2-1E95-A0EB-D0E9C7981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FEFAB-4E83-DDA8-1700-DF9C6AFFD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377FD-911B-22CD-E44D-D57849CF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462BD-7061-5433-BD05-0032C3AC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42EB6-F117-4A6D-9E65-7B4EDBC3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7010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CED2-345F-82E1-36CD-67FDD125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7641A-FF15-CACB-FBD0-49788815C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45B23-8CFF-287B-6737-0792E5A95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F6863-B30A-EEF5-8232-D2B85656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286EE-64F5-3F8A-2456-A28F7DF10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9F30F-8E36-AF2B-0A5C-F382DFB0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494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CF18-7927-5F11-07EB-B3952C55B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9863B-F4B9-4025-CC56-DAACB6EC8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9299E-5E65-9305-252C-F8BBCE45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0E0CD-E856-4E9B-BEE8-A9431A59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8DE01-96CA-83B4-8FC0-AD7A36B3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47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BEC5B-EEB9-FF49-1858-8D5E1C72E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F9D41-0F44-7958-6BA4-CE1172B90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5152E-1BD3-3EAD-FB77-E39F3FC07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FB653-6536-7BC9-BE4D-3D8899FB6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8BB9B-9F70-D0E3-45BD-3D23708E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379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7D013-C4AB-4970-D628-A5F92635E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87DE3-EFB4-42BE-9550-F5D4DBBE5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FE256-C627-806F-04A9-6EB0A3215D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7F411-E9AF-48E6-A0D4-9630BF1BFB3C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21F14-BFE1-4CEE-E6FC-8A96FBFA4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0AAAC-56B9-9BD7-AF76-5D2205544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65EB7-2E9E-4BD4-90F8-C5E9B51EC8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0106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526CDFF8-A2DB-5136-E7A5-07CE7EA4AF22}"/>
              </a:ext>
            </a:extLst>
          </p:cNvPr>
          <p:cNvSpPr/>
          <p:nvPr/>
        </p:nvSpPr>
        <p:spPr>
          <a:xfrm>
            <a:off x="6925" y="0"/>
            <a:ext cx="12192000" cy="261850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8BC6336-2063-A6CF-1B91-8B90E6E67A4D}"/>
              </a:ext>
            </a:extLst>
          </p:cNvPr>
          <p:cNvSpPr/>
          <p:nvPr/>
        </p:nvSpPr>
        <p:spPr>
          <a:xfrm>
            <a:off x="6925" y="77723"/>
            <a:ext cx="4312227" cy="1072343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FAD8340-1581-48E7-AD95-EA2D36363E4F}"/>
              </a:ext>
            </a:extLst>
          </p:cNvPr>
          <p:cNvSpPr/>
          <p:nvPr/>
        </p:nvSpPr>
        <p:spPr>
          <a:xfrm>
            <a:off x="-92482" y="-218002"/>
            <a:ext cx="4511040" cy="1582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iTeam University  |  Module Python  |  AU 2025-2026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DA316B3-E406-FC33-5BA9-5E83214AAFA7}"/>
              </a:ext>
            </a:extLst>
          </p:cNvPr>
          <p:cNvSpPr/>
          <p:nvPr/>
        </p:nvSpPr>
        <p:spPr>
          <a:xfrm>
            <a:off x="1579418" y="1005841"/>
            <a:ext cx="9850582" cy="274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Bibliotheque</a:t>
            </a:r>
            <a:endParaRPr lang="en-US" sz="5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981C80B-0C02-6A42-DE9A-E7AAEC44D956}"/>
              </a:ext>
            </a:extLst>
          </p:cNvPr>
          <p:cNvSpPr/>
          <p:nvPr/>
        </p:nvSpPr>
        <p:spPr>
          <a:xfrm>
            <a:off x="1503912" y="1828800"/>
            <a:ext cx="9926087" cy="246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7D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Intelligente</a:t>
            </a:r>
            <a:endParaRPr lang="en-US" sz="5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DB6AB02-25A1-5A5F-E4F3-F66620203E19}"/>
              </a:ext>
            </a:extLst>
          </p:cNvPr>
          <p:cNvSpPr/>
          <p:nvPr/>
        </p:nvSpPr>
        <p:spPr>
          <a:xfrm>
            <a:off x="457200" y="2697480"/>
            <a:ext cx="10972800" cy="279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avec Chatbot IA</a:t>
            </a:r>
            <a:endParaRPr lang="en-US" sz="2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6608D5D-9CD3-2BD3-C2EF-5FF183849D39}"/>
              </a:ext>
            </a:extLst>
          </p:cNvPr>
          <p:cNvSpPr/>
          <p:nvPr/>
        </p:nvSpPr>
        <p:spPr>
          <a:xfrm>
            <a:off x="1503913" y="4658659"/>
            <a:ext cx="2194560" cy="10287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EC8D620-98DC-93D1-3220-555DDC12E802}"/>
              </a:ext>
            </a:extLst>
          </p:cNvPr>
          <p:cNvSpPr/>
          <p:nvPr/>
        </p:nvSpPr>
        <p:spPr>
          <a:xfrm>
            <a:off x="1503913" y="4362519"/>
            <a:ext cx="2194560" cy="1489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D1D6CD2-12CF-CF99-C488-BB4AC9140EB0}"/>
              </a:ext>
            </a:extLst>
          </p:cNvPr>
          <p:cNvSpPr/>
          <p:nvPr/>
        </p:nvSpPr>
        <p:spPr>
          <a:xfrm>
            <a:off x="4175764" y="4658659"/>
            <a:ext cx="2194560" cy="103036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3847B45-9E15-3EB2-8780-5958C5D2B3E1}"/>
              </a:ext>
            </a:extLst>
          </p:cNvPr>
          <p:cNvSpPr/>
          <p:nvPr/>
        </p:nvSpPr>
        <p:spPr>
          <a:xfrm>
            <a:off x="4033751" y="4429851"/>
            <a:ext cx="2194560" cy="1489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1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CDA7437-7302-BFCD-9298-1764E61EDBBF}"/>
              </a:ext>
            </a:extLst>
          </p:cNvPr>
          <p:cNvSpPr/>
          <p:nvPr/>
        </p:nvSpPr>
        <p:spPr>
          <a:xfrm>
            <a:off x="6705602" y="4658659"/>
            <a:ext cx="2194560" cy="10287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3B3776C-8CB9-69EC-3FD7-7966DA288A75}"/>
              </a:ext>
            </a:extLst>
          </p:cNvPr>
          <p:cNvSpPr/>
          <p:nvPr/>
        </p:nvSpPr>
        <p:spPr>
          <a:xfrm>
            <a:off x="6643257" y="4658659"/>
            <a:ext cx="21945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1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850A0AA-01B3-A232-08CE-A06BCB644A21}"/>
              </a:ext>
            </a:extLst>
          </p:cNvPr>
          <p:cNvSpPr/>
          <p:nvPr/>
        </p:nvSpPr>
        <p:spPr>
          <a:xfrm>
            <a:off x="9235440" y="4660322"/>
            <a:ext cx="2194560" cy="10287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4BF5E58-4A83-CE8D-78DE-1953E5B79A08}"/>
              </a:ext>
            </a:extLst>
          </p:cNvPr>
          <p:cNvSpPr/>
          <p:nvPr/>
        </p:nvSpPr>
        <p:spPr>
          <a:xfrm>
            <a:off x="9235440" y="4523369"/>
            <a:ext cx="2194560" cy="130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E0DCA22C-EC01-5CA8-DEAC-CCDA3A66EBBA}"/>
              </a:ext>
            </a:extLst>
          </p:cNvPr>
          <p:cNvSpPr/>
          <p:nvPr/>
        </p:nvSpPr>
        <p:spPr>
          <a:xfrm>
            <a:off x="457200" y="5644758"/>
            <a:ext cx="10972800" cy="953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Réalisé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: Ghanmi Amin </a:t>
            </a:r>
          </a:p>
        </p:txBody>
      </p:sp>
    </p:spTree>
    <p:extLst>
      <p:ext uri="{BB962C8B-B14F-4D97-AF65-F5344CB8AC3E}">
        <p14:creationId xmlns:p14="http://schemas.microsoft.com/office/powerpoint/2010/main" val="278281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54C18-60AE-DF68-5C86-9CFE108B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et Objectif du Projet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580016-1489-6FFD-5E45-189BC7278A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690513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3046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ADAF2-5AE8-51B8-415E-6122F1A1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Problématique Traitée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92BC-94B6-6B87-F940-E734819AB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Limites des systèmes traditionnels :</a:t>
            </a:r>
            <a:endParaRPr lang="fr-F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Lenteur de recherche :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Difficulté à retrouver un ouvrage précis instantanément.</a:t>
            </a:r>
          </a:p>
          <a:p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Erreurs de mise à jour :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Risques de doublons ou d'incohérences dans les stocks et quantités.</a:t>
            </a:r>
          </a:p>
          <a:p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Suivi des statuts :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Complexité pour identifier en temps réel les livres disponibles, empruntés ou réservés.</a:t>
            </a:r>
          </a:p>
          <a:p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Manque d'assistance :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Absence de guide ou de conseiller dynamique pour orienter le lecteur.</a:t>
            </a:r>
          </a:p>
        </p:txBody>
      </p:sp>
    </p:spTree>
    <p:extLst>
      <p:ext uri="{BB962C8B-B14F-4D97-AF65-F5344CB8AC3E}">
        <p14:creationId xmlns:p14="http://schemas.microsoft.com/office/powerpoint/2010/main" val="3705849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B19409-385A-B522-EC18-5F97F22C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fr-FR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Technologies Utilisées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ED548-CEE4-80B5-4B0D-637351718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701" y="2200459"/>
            <a:ext cx="2133001" cy="2133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918352-5038-1F37-606B-9A1104241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297" y="2200459"/>
            <a:ext cx="2133001" cy="2133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03A89B-CF28-F857-AB50-081E77AFE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295" y="2200459"/>
            <a:ext cx="3061813" cy="14419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965C-9B93-3257-780E-5A53BF659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4786744"/>
            <a:ext cx="9448800" cy="1442631"/>
          </a:xfrm>
        </p:spPr>
        <p:txBody>
          <a:bodyPr>
            <a:normAutofit/>
          </a:bodyPr>
          <a:lstStyle/>
          <a:p>
            <a:r>
              <a:rPr lang="fr-FR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Langage :</a:t>
            </a:r>
            <a:r>
              <a:rPr lang="fr-F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 (Backend et scripts de contrôle)</a:t>
            </a:r>
          </a:p>
          <a:p>
            <a:r>
              <a:rPr lang="fr-F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Serveur / API </a:t>
            </a: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(Micro-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léger pour les routes)</a:t>
            </a:r>
          </a:p>
          <a:p>
            <a:r>
              <a:rPr lang="fr-F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de données </a:t>
            </a: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SQLite3 (Moteur relationnel embarqué)</a:t>
            </a:r>
          </a:p>
          <a:p>
            <a:r>
              <a:rPr lang="fr-F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UI : 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 (Custom Dark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JavaScript Natif (Fetch API)</a:t>
            </a:r>
          </a:p>
          <a:p>
            <a:r>
              <a:rPr lang="fr-F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Artificielle : 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</a:t>
            </a:r>
          </a:p>
          <a:p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26179038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9821A7-7E22-D691-4A66-B8E76C73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L'Architecture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Générale du Système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6B5B22CD-263B-2A2C-1D6F-9C68645ED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0155" y="1515587"/>
            <a:ext cx="7395411" cy="469894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5EAA87-30DC-A3A9-BE2A-1D0D926F99EB}"/>
              </a:ext>
            </a:extLst>
          </p:cNvPr>
          <p:cNvSpPr txBox="1">
            <a:spLocks/>
          </p:cNvSpPr>
          <p:nvPr/>
        </p:nvSpPr>
        <p:spPr>
          <a:xfrm>
            <a:off x="189271" y="2366398"/>
            <a:ext cx="4402394" cy="342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Web asynchrone (Requêtes JSON via Fetch API).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de données centralisée partagée.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Mécanisme de génération augmentée par les données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Injection).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42394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6FB5C3-23F5-67AF-ACD0-6D1B26E6C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fr-FR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Démonstration des Fonctionnalités Principales (CRUD &amp; CLI)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9D174-3C74-7B0C-85F0-A8EAC9D1C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59" y="2200459"/>
            <a:ext cx="2902042" cy="2133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B658AC-631F-BCA8-2305-9E3385D99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797" y="2200459"/>
            <a:ext cx="2700001" cy="2133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E76AF8-0EAF-54C7-8F6D-CBA6DCE949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295" y="2200459"/>
            <a:ext cx="3061813" cy="199017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386A4-AC7A-74F7-79AB-131539447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4786744"/>
            <a:ext cx="9448800" cy="1442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Web :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Exécution fluide et asynchrone des opérations CRUD (Ajout, Modification, Suppression) avec un tri dynamique en temps réel.</a:t>
            </a:r>
          </a:p>
          <a:p>
            <a:pPr marL="0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CLI (main.py) :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menu interactif textuel numéroté de 1 à 5 permettant une administration système rapide directement depuis le terminal. </a:t>
            </a:r>
          </a:p>
        </p:txBody>
      </p:sp>
    </p:spTree>
    <p:extLst>
      <p:ext uri="{BB962C8B-B14F-4D97-AF65-F5344CB8AC3E}">
        <p14:creationId xmlns:p14="http://schemas.microsoft.com/office/powerpoint/2010/main" val="4044430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58814-267A-86EC-6FD9-5573D14B9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Démonstration du </a:t>
            </a:r>
            <a:r>
              <a:rPr lang="fr-F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IA (</a:t>
            </a:r>
            <a:r>
              <a:rPr lang="fr-F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BibloBot</a:t>
            </a:r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68EB3-F0F4-5E7C-FDA0-C98B3E551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 de l'Assistant :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BibloBot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Capacités Conversationnelles :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Compréhension fine du langage naturel.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contextualisée basée exclusivement sur le stock physique disponible.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Exemples de requêtes traitées :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"Quels sont les romans disponibles ?"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"Propose-moi un livre d'informatique en stock."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972BF-8811-09EC-8C8D-B5E3F365B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113" y="1488872"/>
            <a:ext cx="5158360" cy="445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68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DC8A4B-0844-80FC-DABF-A0B690831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Difficultés Rencontrées et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4C43-4CB3-0D34-54B6-ECCA5A59C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 1 : Risque d'hallucination de l'IA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: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Mécanisme d'injection de contexte (RAG partiel) limitant les réponses de Gemini aux données de la base SQLite.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 2 : Sécurisation de la clé d'API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: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Isolation des variables d'environnement confidentielles à l'aide d'un fichier .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du module python-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 3 : Fluidité de l'UI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: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Utilisation exclusive de requêtes asynchrones en JavaScript natif pour éviter les rafraîchissements de page.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831314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DAC3F-CD73-205F-C5DC-EA068583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935FA-23F7-EA0C-B2C6-71EFAD49A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projet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Bibliotheque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Intelligente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atteint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l'ensemble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des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objectifs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du cahier des charges. Il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demontre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qu'un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systeme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Python leger (Flask + SQLite)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peut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integrer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une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IA generative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avancee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offrir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une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experience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utilisateur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comparable aux applications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professionnelles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modernes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576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8622-CDE4-5CAC-4C56-29C3B98E6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432" y="735106"/>
            <a:ext cx="9225155" cy="35932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Merci pour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votre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attention !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97283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476</Words>
  <Application>Microsoft Office PowerPoint</Application>
  <PresentationFormat>Widescreen</PresentationFormat>
  <Paragraphs>52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Introduction et Objectif du Projet</vt:lpstr>
      <vt:lpstr>La Problématique Traitée</vt:lpstr>
      <vt:lpstr>Les Technologies Utilisées</vt:lpstr>
      <vt:lpstr>L'Architecture Générale du Système</vt:lpstr>
      <vt:lpstr>Démonstration des Fonctionnalités Principales (CRUD &amp; CLI)</vt:lpstr>
      <vt:lpstr>Démonstration du Chatbot IA (BibloBot)</vt:lpstr>
      <vt:lpstr>Les Difficultés Rencontrées et Solutions</vt:lpstr>
      <vt:lpstr>Conclusion</vt:lpstr>
      <vt:lpstr>Merci pour votre attention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 Ghanmi</dc:creator>
  <cp:lastModifiedBy>Amin Ghanmi</cp:lastModifiedBy>
  <cp:revision>3</cp:revision>
  <dcterms:created xsi:type="dcterms:W3CDTF">2026-06-06T07:00:02Z</dcterms:created>
  <dcterms:modified xsi:type="dcterms:W3CDTF">2026-06-06T08:03:22Z</dcterms:modified>
</cp:coreProperties>
</file>